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KO-24-30 Analysis Log (Onboarding Deck v2)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Auto-generated from markdown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0. 한 장 요약 (Executive Summary)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sz="1800" b="0"/>
              <a:t>문제 1 — PPAC에서 멀티힛/조합이 “가짜 이벤트”를 만든다</a:t>
            </a:r>
          </a:p>
          <a:p>
            <a:pPr lvl="1"/>
            <a:r>
              <a:rPr sz="1800" b="0"/>
              <a:t>특히 F1 쪽에서 멀티힛(조합)이 크고, TXSum/TYSum 분포에 이상 피크가 생김</a:t>
            </a:r>
          </a:p>
          <a:p>
            <a:pPr lvl="1"/>
            <a:r>
              <a:rPr sz="1800" b="0"/>
              <a:t>해결 방향: TSum(=Left+Right timing sum) 컷을 먼저 적용해 “물리적으로 일관된 조합”만 남긴다</a:t>
            </a:r>
          </a:p>
          <a:p>
            <a:pPr lvl="1"/>
            <a:r>
              <a:rPr sz="1800" b="0"/>
              <a:t>문제 2 — TDC/Timing(특히 PPT) 분포가 Trigger/설정/레이어에 따라 달라진다</a:t>
            </a:r>
          </a:p>
          <a:p>
            <a:pPr lvl="1"/>
            <a:r>
              <a:rPr sz="1800" b="0"/>
              <a:t>TDC 윈도우를 적절히 잡으면 이상 조합/오프타이밍을 제거할 수 있음</a:t>
            </a:r>
          </a:p>
          <a:p>
            <a:pPr lvl="1"/>
            <a:r>
              <a:rPr sz="1800" b="0"/>
              <a:t>단, 과도한 TDC 컷은 F1 효율을 크게 떨어뜨릴 수 있음(검증 필요)</a:t>
            </a:r>
          </a:p>
          <a:p>
            <a:pPr lvl="1"/>
            <a:r>
              <a:rPr sz="1800" b="0"/>
              <a:t>문제 3 — 슬릿(혹은 기계적) 오프셋이 F3 Up Y 분포를 잘라먹는다</a:t>
            </a:r>
          </a:p>
          <a:p>
            <a:pPr lvl="1"/>
            <a:r>
              <a:rPr sz="1800" b="0"/>
              <a:t>특정 anode timing 구간에서 F3 Up Y &lt; -30 같은 형태의 기하학적 절단이 관측</a:t>
            </a:r>
          </a:p>
          <a:p>
            <a:pPr lvl="1"/>
            <a:r>
              <a:rPr sz="1800" b="0"/>
              <a:t>해결 방향: 슬릿 중심(오프셋) 확인/보정 + 분석에서 “기하학적 컷/대칭 가정”을 명시적으로 다룬다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실험/데이터 맥락: CS Runs vs MDIS Runs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sz="1800" b="0"/>
              <a:t>CS Runs (Charge State / Cross Section)</a:t>
            </a:r>
          </a:p>
          <a:p>
            <a:pPr lvl="1"/>
            <a:r>
              <a:rPr sz="1800" b="0"/>
              <a:t>동위원소별(예: O18~O22, Ne24~Ne26)로 분리</a:t>
            </a:r>
          </a:p>
          <a:p>
            <a:pPr lvl="1"/>
            <a:r>
              <a:rPr sz="1800" b="0"/>
              <a:t>분석 목표: 안정적인 컷(특히 TSum)을 만들어 “동일 룰”로 적용 가능하게 하는 것</a:t>
            </a:r>
          </a:p>
          <a:p>
            <a:pPr lvl="1"/>
            <a:r>
              <a:rPr sz="1800" b="0"/>
              <a:t>MDIS Runs (Momentum Distribution)</a:t>
            </a:r>
          </a:p>
          <a:p>
            <a:pPr lvl="1"/>
            <a:r>
              <a:rPr sz="1800" b="0"/>
              <a:t>setting(예: -12%, 0%, +7% 등) 변화에 따른 분포/효율/트리거 영향 확인</a:t>
            </a:r>
          </a:p>
          <a:p>
            <a:pPr lvl="1"/>
            <a:r>
              <a:rPr sz="1800" b="0"/>
              <a:t>분석 목표: setting 변화에도 컷이 안정적으로 동작하는지 검증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데이터 흐름: 이벤트가 어떻게 “좋은 이벤트”가 되는가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/>
              <a:t>권장 “기본 처리 파이프라인(초안)”:</a:t>
            </a:r>
          </a:p>
          <a:p>
            <a:pPr/>
            <a:r>
              <a:rPr sz="1800" b="0"/>
              <a:t>1. 기본 트리거/품질 조건: 유효한 엔트리(예: SSD entries) 등</a:t>
            </a:r>
          </a:p>
          <a:p>
            <a:pPr/>
            <a:r>
              <a:rPr sz="1800" b="0"/>
              <a:t>2. TSum 컷 (TXSum/TYSum): 좌/우 타이밍의 합이 물리적 범위인 이벤트만</a:t>
            </a:r>
          </a:p>
          <a:p>
            <a:pPr/>
            <a:r>
              <a:rPr sz="1800" b="0"/>
              <a:t>3. TDC/Timing 컷: 오프타이밍/잘못된 트리거 조합 제거(필요한 채널만)</a:t>
            </a:r>
          </a:p>
          <a:p>
            <a:pPr/>
            <a:r>
              <a:rPr sz="1800" b="0"/>
              <a:t>4. 기하학적/수용각 컷: PPAC X/Y, SSD 위치 등을 이용한 acceptance 정의</a:t>
            </a:r>
          </a:p>
          <a:p>
            <a:pPr/>
            <a:r>
              <a:rPr sz="1800" b="0"/>
              <a:t>5. 효율/비율 계산: “컷 이후 hit 비율”로 PPAC 효율 산출</a:t>
            </a:r>
          </a:p>
          <a:p>
            <a:pPr/>
            <a:r>
              <a:rPr sz="1800" b="0"/>
              <a:t>핵심 포인트:</a:t>
            </a:r>
          </a:p>
          <a:p>
            <a:pPr lvl="1"/>
            <a:r>
              <a:rPr sz="1800" b="0"/>
              <a:t>TSum은 ‘조합(Combination)’ 문제를 줄이는 1차 방어선</a:t>
            </a:r>
          </a:p>
          <a:p>
            <a:pPr lvl="1"/>
            <a:r>
              <a:rPr sz="1800" b="0"/>
              <a:t>TDC 컷은 ‘타이밍/트리거 기원’ 문제를 다루는 2차 방어선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PPAC 멀티힛/조합 문제: 왜 TSum이 필요한가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/>
              <a:t>관측:</a:t>
            </a:r>
          </a:p>
          <a:p>
            <a:pPr lvl="1"/>
            <a:r>
              <a:rPr sz="1800" b="0"/>
              <a:t>TXSum 분포에 정상 피크 외에 이상 피크(예: ~10000 부근)가 나타남</a:t>
            </a:r>
          </a:p>
          <a:p>
            <a:pPr lvl="1"/>
            <a:r>
              <a:rPr sz="1800" b="0"/>
              <a:t>이는 “서로 다른 레이어/히트의 Left, Right가 잘못 조합된 결과”일 가능성이 큼</a:t>
            </a:r>
          </a:p>
          <a:p>
            <a:pPr/>
            <a:r>
              <a:rPr sz="1800" b="0"/>
              <a:t>실무적 결론:</a:t>
            </a:r>
          </a:p>
          <a:p>
            <a:pPr lvl="1"/>
            <a:r>
              <a:rPr sz="1800" b="0"/>
              <a:t>TXSum/TYSum에서 앞쪽(작은 값) 영역을 잘라 이상 조합을 줄이는 것이 합리적</a:t>
            </a:r>
          </a:p>
          <a:p>
            <a:pPr lvl="1"/>
            <a:r>
              <a:rPr sz="1800" b="0"/>
              <a:t>단, 컷은 너무 공격적으로 잡으면 물리 이벤트도 제거할 수 있으므로 “검증 가능한 규칙”이 필요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TSum 컷 설계: ‘공통 룰’ 만들기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/>
              <a:t>12/04 로그에서의 “공통 TSum 컷(예시)”:</a:t>
            </a:r>
          </a:p>
          <a:p>
            <a:pPr lvl="1"/>
            <a:r>
              <a:rPr sz="1800" b="0"/>
              <a:t>F1 Up</a:t>
            </a:r>
          </a:p>
          <a:p>
            <a:pPr lvl="1"/>
            <a:r>
              <a:rPr sz="1800" b="0"/>
              <a:t>X: 0 ~ 4500</a:t>
            </a:r>
          </a:p>
          <a:p>
            <a:pPr lvl="1"/>
            <a:r>
              <a:rPr sz="1800" b="0"/>
              <a:t>F2 Down</a:t>
            </a:r>
          </a:p>
          <a:p>
            <a:pPr lvl="1"/>
            <a:r>
              <a:rPr sz="1800" b="0"/>
              <a:t>X: 0 ~ 3500</a:t>
            </a:r>
          </a:p>
          <a:p>
            <a:pPr lvl="1"/>
            <a:r>
              <a:rPr sz="1800" b="0"/>
              <a:t>Y: 400 ~ 4800</a:t>
            </a:r>
          </a:p>
          <a:p>
            <a:pPr lvl="1"/>
            <a:r>
              <a:rPr sz="1800" b="0"/>
              <a:t>F3 Up</a:t>
            </a:r>
          </a:p>
          <a:p>
            <a:pPr lvl="1"/>
            <a:r>
              <a:rPr sz="1800" b="0"/>
              <a:t>X: 400 ~ 4000</a:t>
            </a:r>
          </a:p>
          <a:p>
            <a:pPr lvl="1"/>
            <a:r>
              <a:rPr sz="1800" b="0"/>
              <a:t>Y: 400 ~ 4000</a:t>
            </a:r>
          </a:p>
          <a:p>
            <a:pPr lvl="1"/>
            <a:r>
              <a:rPr sz="1800" b="0"/>
              <a:t>F3 Down</a:t>
            </a:r>
          </a:p>
          <a:p>
            <a:pPr lvl="1"/>
            <a:r>
              <a:rPr sz="1800" b="0"/>
              <a:t>X: 800 ~ 5000</a:t>
            </a:r>
          </a:p>
          <a:p>
            <a:pPr lvl="1"/>
            <a:r>
              <a:rPr sz="1800" b="0"/>
              <a:t>Y: 1000 ~ 5000</a:t>
            </a:r>
          </a:p>
          <a:p>
            <a:pPr/>
            <a:r>
              <a:rPr sz="1800" b="0"/>
              <a:t>해석:</a:t>
            </a:r>
          </a:p>
          <a:p>
            <a:pPr lvl="1"/>
            <a:r>
              <a:rPr sz="1800" b="0"/>
              <a:t>“모든 런에 동일 적용 가능한 넓은 컷”을 우선 제안</a:t>
            </a:r>
          </a:p>
          <a:p>
            <a:pPr lvl="1"/>
            <a:r>
              <a:rPr sz="1800" b="0"/>
              <a:t>이후 setting/동위원소별로 “과학적 이유가 있을 때만” 수정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TDC 컷: 언제/어디에 필요한가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/>
              <a:t>관측 (예: 12/04, 12/05, 12/09):</a:t>
            </a:r>
          </a:p>
          <a:p>
            <a:pPr lvl="1"/>
            <a:r>
              <a:rPr sz="1800" b="0"/>
              <a:t>F2/F3는 TDC/TSum 컷으로 잃는 이벤트가 거의 없다(컷이 비교적 안전)</a:t>
            </a:r>
          </a:p>
          <a:p>
            <a:pPr lvl="1"/>
            <a:r>
              <a:rPr sz="1800" b="0"/>
              <a:t>F1은 컷에 민감해서 효율(이벤트 보존율)이 크게 떨어질 수 있음</a:t>
            </a:r>
          </a:p>
          <a:p>
            <a:pPr/>
            <a:r>
              <a:rPr sz="1800" b="0"/>
              <a:t>실무적 결론:</a:t>
            </a:r>
          </a:p>
          <a:p>
            <a:pPr lvl="1"/>
            <a:r>
              <a:rPr sz="1800" b="0"/>
              <a:t>F2/F3: TDC 윈도우 컷을 기본으로 포함해도 안전할 가능성이 높음</a:t>
            </a:r>
          </a:p>
          <a:p>
            <a:pPr lvl="1"/>
            <a:r>
              <a:rPr sz="1800" b="0"/>
              <a:t>F1: “왜 떨어지는지(트리거/멀티힛/조합)” 원인을 더 확인하고, 가능하면 느슨하게/조건부 적용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CS vs MDIS 비교: 컷이 효율에 미치는 영향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/>
              <a:t>예시 (12/09: CS Runs, 표 기반 요약):</a:t>
            </a:r>
          </a:p>
          <a:p>
            <a:pPr lvl="1"/>
            <a:r>
              <a:rPr sz="1800" b="0"/>
              <a:t>F2는 ~99% 수준으로 매우 안정적</a:t>
            </a:r>
          </a:p>
          <a:p>
            <a:pPr lvl="1"/>
            <a:r>
              <a:rPr sz="1800" b="0"/>
              <a:t>F3 Up/Down은 “컷 적용으로 변화가 매우 작음(permille 수준)”</a:t>
            </a:r>
          </a:p>
          <a:p>
            <a:pPr lvl="1"/>
            <a:r>
              <a:rPr sz="1800" b="0"/>
              <a:t>F1은 컷 적용 시 손실이 비교적 큼(수 %~10% 수준 가능)</a:t>
            </a:r>
          </a:p>
          <a:p>
            <a:pPr/>
            <a:r>
              <a:rPr sz="1800" b="0"/>
              <a:t>핵심 메시지:</a:t>
            </a:r>
          </a:p>
          <a:p>
            <a:pPr lvl="1"/>
            <a:r>
              <a:rPr sz="1800" b="0"/>
              <a:t>분석 품질(가짜 이벤트 제거)을 위해 TSum/TDC는 효과적이지만,</a:t>
            </a:r>
          </a:p>
          <a:p>
            <a:pPr lvl="1"/>
            <a:r>
              <a:rPr sz="1800" b="0"/>
              <a:t>F1은 별도 전략(원인 규명 + 완화)</a:t>
            </a:r>
          </a:p>
          <a:p>
            <a:pPr lvl="1"/>
            <a:r>
              <a:rPr sz="1800" b="0"/>
              <a:t>F2/F3는 기본 적용 후보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슬릿 오프셋 이슈: F3 Up Y가 왜 잘리는가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/>
              <a:t>관측 (11/21, 12/04):</a:t>
            </a:r>
          </a:p>
          <a:p>
            <a:pPr lvl="1"/>
            <a:r>
              <a:rPr sz="1800" b="0"/>
              <a:t>F3 Up에서 “조합되지 않는 모든 데이터”까지 봐도 Y 절단이 여전</a:t>
            </a:r>
          </a:p>
          <a:p>
            <a:pPr lvl="1"/>
            <a:r>
              <a:rPr sz="1800" b="0"/>
              <a:t>특정 timing/anode 조건에서 F3 Up Y &lt; -30 영역이 비정상적으로 절단/왜곡</a:t>
            </a:r>
          </a:p>
          <a:p>
            <a:pPr/>
            <a:r>
              <a:rPr sz="1800" b="0"/>
              <a:t>가설:</a:t>
            </a:r>
          </a:p>
          <a:p>
            <a:pPr lvl="1"/>
            <a:r>
              <a:rPr sz="1800" b="0"/>
              <a:t>빔라인/슬릿 중심이 이동했거나, 하드웨어 세팅이 “원래 좌표계”와 어긋남</a:t>
            </a:r>
          </a:p>
          <a:p>
            <a:pPr/>
            <a:r>
              <a:rPr sz="1800" b="0"/>
              <a:t>분석 대응:</a:t>
            </a:r>
          </a:p>
          <a:p>
            <a:pPr lvl="1"/>
            <a:r>
              <a:rPr sz="1800" b="0"/>
              <a:t>단기: acceptance 정의 시 Y 절단을 반영하거나, 대칭 가정(예: +Y만 사용 후 대칭 추정)을 명시</a:t>
            </a:r>
          </a:p>
          <a:p>
            <a:pPr lvl="1"/>
            <a:r>
              <a:rPr sz="1800" b="0"/>
              <a:t>중기: 슬릿/기계 오프셋을 확인해 좌표계 보정(Offset correction) 반영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모멘텀 분포/Setting 스캔에서 확인할 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/>
              <a:t>12/11, 12/04~05 맥락:</a:t>
            </a:r>
          </a:p>
          <a:p>
            <a:pPr lvl="1"/>
            <a:r>
              <a:rPr sz="1800" b="0"/>
              <a:t>MDIS setting 변화에서 분포가 바뀌어도 TSum 컷이 유지되는지</a:t>
            </a:r>
          </a:p>
          <a:p>
            <a:pPr lvl="1"/>
            <a:r>
              <a:rPr sz="1800" b="0"/>
              <a:t>기하학적 절단(Y cut)이 setting에 따라 달라지는지</a:t>
            </a:r>
          </a:p>
          <a:p>
            <a:pPr lvl="1"/>
            <a:r>
              <a:rPr sz="1800" b="0"/>
              <a:t>“트리거 기원(예: F2 trigger vs F3 trigger)”이 분포/타이밍에 주는 영향</a:t>
            </a:r>
          </a:p>
          <a:p>
            <a:pPr/>
            <a:r>
              <a:rPr sz="1800" b="0"/>
              <a:t>체크리스트:</a:t>
            </a:r>
          </a:p>
          <a:p>
            <a:pPr lvl="1"/>
            <a:r>
              <a:rPr sz="1800" b="0"/>
              <a:t>동일 cut으로 setting별 “유효 이벤트 수/효율” 비교</a:t>
            </a:r>
          </a:p>
          <a:p>
            <a:pPr lvl="1"/>
            <a:r>
              <a:rPr sz="1800" b="0"/>
              <a:t>이상 피크/멀티힛 비율이 setting에 따라 증가하는지</a:t>
            </a:r>
          </a:p>
          <a:p>
            <a:pPr lvl="1"/>
            <a:r>
              <a:rPr sz="1800" b="0"/>
              <a:t>슬릿/기하학 절단이 setting과 상관 있는지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지금 당장 새 연구원이 할 수 있는 작업(우선순위)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/>
              <a:t>1) 컷을 ‘문서화된 규칙’으로 고정</a:t>
            </a:r>
          </a:p>
          <a:p>
            <a:pPr lvl="1"/>
            <a:r>
              <a:rPr sz="1800" b="0"/>
              <a:t>어떤 채널에 어떤 범위를 쓰는지 (TSum, TDC, geometry)</a:t>
            </a:r>
          </a:p>
          <a:p>
            <a:pPr lvl="1"/>
            <a:r>
              <a:rPr sz="1800" b="0"/>
              <a:t>CS/MDIS에서 공통인지, 언제 분기하는지</a:t>
            </a:r>
          </a:p>
          <a:p>
            <a:pPr/>
            <a:r>
              <a:rPr sz="1800" b="0"/>
              <a:t>2) F1 손실의 원인 분해</a:t>
            </a:r>
          </a:p>
          <a:p>
            <a:pPr lvl="1"/>
            <a:r>
              <a:rPr sz="1800" b="0"/>
              <a:t>TDC만 / TSum만 / 둘 다 적용했을 때 “손실 원인(멀티힛/조합/트리거)” 분해</a:t>
            </a:r>
          </a:p>
          <a:p>
            <a:pPr/>
            <a:r>
              <a:rPr sz="1800" b="0"/>
              <a:t>3) 슬릿 오프셋 정량화</a:t>
            </a:r>
          </a:p>
          <a:p>
            <a:pPr lvl="1"/>
            <a:r>
              <a:rPr sz="1800" b="0"/>
              <a:t>F3 Up Y 분포의 절단 위치/형태를 정량화하고, 가능한 보정(shift) 제안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Appendix: 용어 빠른 정의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sz="1800" b="0"/>
              <a:t>PPAC: 빔 위치/타이밍을 측정하는 검출기</a:t>
            </a:r>
          </a:p>
          <a:p>
            <a:pPr lvl="1"/>
            <a:r>
              <a:rPr sz="1800" b="0"/>
              <a:t>TSum (TXSum/TYSum): 좌/우(혹은 상/하) 타이밍 신호의 합. “정상 조합”을 고르는 데 유용</a:t>
            </a:r>
          </a:p>
          <a:p>
            <a:pPr lvl="1"/>
            <a:r>
              <a:rPr sz="1800" b="0"/>
              <a:t>TDC: Time-to-Digital Converter. timing window 컷으로 오프타이밍 제거</a:t>
            </a:r>
          </a:p>
          <a:p>
            <a:pPr lvl="1"/>
            <a:r>
              <a:rPr sz="1800" b="0"/>
              <a:t>PPT: PPAC timing(로그에서 PPT로 표기). 트리거/윈도우 검토 대상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